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2fb91cf4-2c79-4b23-8fc6-b7b25a5b4c16.fntdata" /><ns0:Relationship Id="rIdFont19" Type="http://schemas.openxmlformats.org/officeDocument/2006/relationships/font" Target="fonts/b260e5ca-3fcd-416a-86e0-adcf606ea78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77400" y="561975"/>
            <a:ext cx="1905000" cy="285750"/>
          </a:xfrm>
          <a:prstGeom prst="roundRect">
            <a:avLst>
              <a:gd name="adj" fmla="val 50000"/>
            </a:avLst>
          </a:prstGeom>
          <a:solidFill>
            <a:srgbClr val="2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334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91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216598"/>
            <a:ext cx="3009900" cy="933450"/>
          </a:xfrm>
          <a:prstGeom prst="roundRect">
            <a:avLst>
              <a:gd name="adj" fmla="val 12244"/>
            </a:avLst>
          </a:prstGeom>
          <a:solidFill>
            <a:srgbClr val="261431"/>
          </a:solidFill>
          <a:ln w="9525">
            <a:solidFill>
              <a:srgbClr val="342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71900" y="4216598"/>
            <a:ext cx="3009900" cy="933450"/>
          </a:xfrm>
          <a:prstGeom prst="roundRect">
            <a:avLst>
              <a:gd name="adj" fmla="val 12244"/>
            </a:avLst>
          </a:prstGeom>
          <a:solidFill>
            <a:srgbClr val="261431"/>
          </a:solidFill>
          <a:ln w="9525">
            <a:solidFill>
              <a:srgbClr val="342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3319462"/>
            <a:ext cx="4343400" cy="428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3433762"/>
            <a:ext cx="29908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10750" y="619125"/>
            <a:ext cx="1733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Social Commerce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153150"/>
            <a:ext cx="3357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Qualitative &amp; Quantitative Business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77550" y="6153150"/>
            <a:ext cx="990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Slide 1 of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5334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604837"/>
            <a:ext cx="2964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472B6"/>
                </a:solidFill>
                <a:latin typeface="Plus Jakarta Sans"/>
              </a:rPr>
              <a:t>CAPSTONE PROJECT | TASK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917501"/>
            <a:ext cx="7715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472B6"/>
                </a:solidFill>
                <a:latin typeface="Plus Jakarta Sans"/>
              </a:rPr>
              <a:t>BUSINESS STRATEGY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2193726"/>
            <a:ext cx="6580822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Meesho: Democratizing E-Commerce for Bharat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435548"/>
            <a:ext cx="6267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A quantitative and qualitative analysis of India's leading social commerce marketplace.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359473"/>
            <a:ext cx="3262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Founders &amp; HQ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569023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Vidit Aatrey &amp; Sanjeev Barnwal (Bengaluru, 2015)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1925" y="4359473"/>
            <a:ext cx="3262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Target 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1925" y="4569023"/>
            <a:ext cx="2705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Tier 2/3/4 Non-Metro Value Shoppers &amp; MSMEs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63075" y="571500"/>
            <a:ext cx="2219325" cy="3238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442144"/>
            <a:ext cx="3511599" cy="4306937"/>
          </a:xfrm>
          <a:prstGeom prst="roundRect">
            <a:avLst>
              <a:gd name="adj" fmla="val 4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9799" y="1442144"/>
            <a:ext cx="3511599" cy="4306937"/>
          </a:xfrm>
          <a:prstGeom prst="roundRect">
            <a:avLst>
              <a:gd name="adj" fmla="val 4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89999" y="1704082"/>
            <a:ext cx="3492549" cy="3783210"/>
          </a:xfrm>
          <a:prstGeom prst="roundRect">
            <a:avLst>
              <a:gd name="adj" fmla="val 4363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56699" y="4220467"/>
            <a:ext cx="2959149" cy="1000125"/>
          </a:xfrm>
          <a:prstGeom prst="roundRect">
            <a:avLst>
              <a:gd name="adj" fmla="val 7619"/>
            </a:avLst>
          </a:prstGeom>
          <a:solidFill>
            <a:srgbClr val="353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718369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024" y="1718369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699" y="1970782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" y="1842194"/>
            <a:ext cx="2381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1274" y="1842194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0524" y="2094607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15475" y="647700"/>
            <a:ext cx="2009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Zero-Commission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293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Meesho Business Strategy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975" y="6229350"/>
            <a:ext cx="1019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2 of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740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1B60"/>
                </a:solidFill>
                <a:latin typeface="Plus Jakarta Sans"/>
              </a:rPr>
              <a:t>TASK 2: FINANCIAL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28650"/>
            <a:ext cx="777597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Business Model &amp; Revenue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366069"/>
            <a:ext cx="388388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Primary Revenue Streams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024" y="2366069"/>
            <a:ext cx="388388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Major Cost 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699" y="2618482"/>
            <a:ext cx="38353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Value Delivery Proposition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99" y="2970907"/>
            <a:ext cx="3054399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Connecting regional manufacturers directly with price-sensitive consumers, bypassing traditional wholesaler markups.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25" y="2718494"/>
            <a:ext cx="3054399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0% Seller Commission: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Complete fee elimination for vendor onboarding.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3636615"/>
            <a:ext cx="305439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Logistics &amp; Delivery: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Third-party shipping markups via Valmo network.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4280445"/>
            <a:ext cx="305439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Seller Advertising: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Sponsored product search ads inside app.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" y="4924276"/>
            <a:ext cx="305439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Financial Credit: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Vendor working capital loans &amp; financing fees.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024" y="2718494"/>
            <a:ext cx="305439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Last-Mile Logistics: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High shipping expenses to remote pin codes.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024" y="3362325"/>
            <a:ext cx="305439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Customer Support: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Call center operations and dispute resolutions.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024" y="4006155"/>
            <a:ext cx="305439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Return Logistics (RTO):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Reverse shipping costs on rejected orders.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024" y="4649985"/>
            <a:ext cx="3054399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Cloud &amp; Tech Infrastructure: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Platform uptime and AI search processing.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9099" y="4334767"/>
            <a:ext cx="331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72B6"/>
                </a:solidFill>
                <a:latin typeface="Plus Jakarta Sans"/>
              </a:rPr>
              <a:t>Key Takeaway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9099" y="4506217"/>
            <a:ext cx="27495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Plus Jakarta Sans"/>
              </a:rPr>
              <a:t>Monetization shifts from seller tax to high-margin logistics and ad software.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914900"/>
            <a:ext cx="10972800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86975" y="561975"/>
            <a:ext cx="14954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009775"/>
            <a:ext cx="35052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2009775"/>
            <a:ext cx="35052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2009775"/>
            <a:ext cx="35052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009775"/>
            <a:ext cx="3505200" cy="38100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009775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77200" y="2009775"/>
            <a:ext cx="35052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5300662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9375" y="638175"/>
            <a:ext cx="1285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Competitive Moat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293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Meesho Business Strategy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9450" y="6229350"/>
            <a:ext cx="1028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3 of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6036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1B60"/>
                </a:solidFill>
                <a:latin typeface="Plus Jakarta Sans"/>
              </a:rPr>
              <a:t>TASK 3: DIFFERENTIATING 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28650"/>
            <a:ext cx="633829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Unique Selling Proposition (USP)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231457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D81B60"/>
                </a:solidFill>
                <a:latin typeface="Plus Jakarta Sans"/>
              </a:rPr>
              <a:t>₹200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2819400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Ultra-Low Price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133725"/>
            <a:ext cx="30670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Direct manufacturer supply without intermediary reseller commissions.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0100" y="231457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15M+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0100" y="2819400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Micro-Entrepreneurs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0100" y="3133725"/>
            <a:ext cx="30670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Zero-capital social reselling via WhatsApp and social networks.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3900" y="231457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6A34A"/>
                </a:solidFill>
                <a:latin typeface="Plus Jakarta Sans"/>
              </a:rPr>
              <a:t>8+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3900" y="2819400"/>
            <a:ext cx="38481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Indian Vernacular Languages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900" y="3133725"/>
            <a:ext cx="30670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Hyper-localized mobile UI optimized for first-time internet shoppers.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6825" y="5114925"/>
            <a:ext cx="10925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Brand Identity Positioning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6825" y="5314950"/>
            <a:ext cx="10210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Positioned as the "Digital Supermarket for Bharat" — making online commerce accessible, affordable, and trustworthy for non-metro households.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429250"/>
            <a:ext cx="10972800" cy="523875"/>
          </a:xfrm>
          <a:prstGeom prst="roundRect">
            <a:avLst>
              <a:gd name="adj" fmla="val 2909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34550" y="571500"/>
            <a:ext cx="1847850" cy="323850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810791"/>
            <a:ext cx="5334000" cy="2817316"/>
          </a:xfrm>
          <a:prstGeom prst="roundRect">
            <a:avLst>
              <a:gd name="adj" fmla="val 540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1810791"/>
            <a:ext cx="5334000" cy="2817316"/>
          </a:xfrm>
          <a:prstGeom prst="roundRect">
            <a:avLst>
              <a:gd name="adj" fmla="val 54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091779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091779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86950" y="647700"/>
            <a:ext cx="1638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Value E-Commerce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5581650"/>
            <a:ext cx="2821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Resulting Customer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950" y="5581650"/>
            <a:ext cx="7639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472B6"/>
                </a:solidFill>
                <a:latin typeface="Plus Jakarta Sans"/>
              </a:rPr>
              <a:t>500M+ underserved non-metro shoppers gained first-ever digital buying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293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Meesho Business Strategy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9450" y="6229350"/>
            <a:ext cx="1028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4 of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6215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1B60"/>
                </a:solidFill>
                <a:latin typeface="Plus Jakarta Sans"/>
              </a:rPr>
              <a:t>TASK 4: MARKET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8650"/>
            <a:ext cx="652581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Market Gap &amp; Problem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8725" y="2087016"/>
            <a:ext cx="352544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Pre-Meesho Industry Friction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477541"/>
            <a:ext cx="4876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7F1D1D"/>
                </a:solidFill>
                <a:latin typeface="Plus Jakarta Sans"/>
              </a:rPr>
              <a:t>High Seller Commissions: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Amazon/Flipkart charged 15-25% fees, pricing out small MSMEs.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140422"/>
            <a:ext cx="4876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7F1D1D"/>
                </a:solidFill>
                <a:latin typeface="Plus Jakarta Sans"/>
              </a:rPr>
              <a:t>Ignored Tier 2/3 Markets: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Prime e-commerce focused purely on urban branded buyers.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803302"/>
            <a:ext cx="4876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7F1D1D"/>
                </a:solidFill>
                <a:latin typeface="Plus Jakarta Sans"/>
              </a:rPr>
              <a:t>High Order Minimums: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Expensive shipping charges on low-ticket unbranded goods.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525" y="2087016"/>
            <a:ext cx="251281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Plus Jakarta Sans"/>
              </a:rPr>
              <a:t>The Meesho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2477541"/>
            <a:ext cx="4876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4532D"/>
                </a:solidFill>
                <a:latin typeface="Plus Jakarta Sans"/>
              </a:rPr>
              <a:t>0% Marketplace Fee:</a:t>
            </a:r>
            <a:r>
              <a:rPr b="0" sz="1350" i="0" u="none">
                <a:solidFill>
                  <a:srgbClr val="14532D"/>
                </a:solidFill>
                <a:latin typeface="Plus Jakarta Sans"/>
              </a:rPr>
              <a:t> Unlocked direct listing for regional unbranded manufacturers.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3140422"/>
            <a:ext cx="4876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4532D"/>
                </a:solidFill>
                <a:latin typeface="Plus Jakarta Sans"/>
              </a:rPr>
              <a:t>Hyper-Affordable Catalog:</a:t>
            </a:r>
            <a:r>
              <a:rPr b="0" sz="1350" i="0" u="none">
                <a:solidFill>
                  <a:srgbClr val="14532D"/>
                </a:solidFill>
                <a:latin typeface="Plus Jakarta Sans"/>
              </a:rPr>
              <a:t> Everyday items priced under ₹300 with free delivery.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3803302"/>
            <a:ext cx="4876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14532D"/>
                </a:solidFill>
                <a:latin typeface="Plus Jakarta Sans"/>
              </a:rPr>
              <a:t>Social Reselling:</a:t>
            </a:r>
            <a:r>
              <a:rPr b="0" sz="1350" i="0" u="none">
                <a:solidFill>
                  <a:srgbClr val="14532D"/>
                </a:solidFill>
                <a:latin typeface="Plus Jakarta Sans"/>
              </a:rPr>
              <a:t> Empowered non-working women to run digital stores with zero capital.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076825"/>
            <a:ext cx="10972800" cy="876300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82200" y="571500"/>
            <a:ext cx="1600200" cy="323850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952625"/>
            <a:ext cx="2600325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00425" y="1952625"/>
            <a:ext cx="2600325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952625"/>
            <a:ext cx="2600325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82075" y="1952625"/>
            <a:ext cx="2600325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29225"/>
            <a:ext cx="906958" cy="571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190750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550" y="2190750"/>
            <a:ext cx="333375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219075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200" y="2190750"/>
            <a:ext cx="20002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34600" y="647700"/>
            <a:ext cx="1390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1B60"/>
                </a:solidFill>
                <a:latin typeface="Plus Jakarta Sans"/>
              </a:rPr>
              <a:t>Valmo Tech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3758" y="5295900"/>
            <a:ext cx="947529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Logistics Tech Impact: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Valmo lowers last-mile shipping costs by 20–30% across remote Indian postal codes without capital-heavy fleet ownership.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2293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Meesho Business Strategy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9450" y="6229350"/>
            <a:ext cx="1028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5 of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7155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1B60"/>
                </a:solidFill>
                <a:latin typeface="Plus Jakarta Sans"/>
              </a:rPr>
              <a:t>TASK 5: DIGITAL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28650"/>
            <a:ext cx="751343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Technology &amp; Supply Chain 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57175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AI 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2867025"/>
            <a:ext cx="22193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Personalized discovery feeds targeting local price points and user browsing history.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8550" y="257175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Valmo Logistics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8550" y="2867025"/>
            <a:ext cx="22193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Proprietary logistics aggregator routing parcels across 10+ local regional 3PL partners.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257175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Voice &amp; Image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9375" y="2867025"/>
            <a:ext cx="22193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Enables non-English users to find products using photo uploads and audio prompts.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0200" y="257175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Lightweight App UX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0200" y="2867025"/>
            <a:ext cx="22193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15MB application footprint functioning smoothly on 2G/3G low-tier smartphones.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29800" y="571500"/>
            <a:ext cx="1752600" cy="3238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366962"/>
            <a:ext cx="5096767" cy="2266950"/>
          </a:xfrm>
          <a:prstGeom prst="roundRect">
            <a:avLst>
              <a:gd name="adj" fmla="val 67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34967" y="1885950"/>
            <a:ext cx="5647432" cy="1000125"/>
          </a:xfrm>
          <a:prstGeom prst="roundRect">
            <a:avLst>
              <a:gd name="adj" fmla="val 1142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34967" y="3000375"/>
            <a:ext cx="5647432" cy="1000125"/>
          </a:xfrm>
          <a:prstGeom prst="roundRect">
            <a:avLst>
              <a:gd name="adj" fmla="val 1142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34967" y="4114800"/>
            <a:ext cx="5647432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25" y="3233737"/>
            <a:ext cx="4620517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7725" y="3757612"/>
            <a:ext cx="4620517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7725" y="4281487"/>
            <a:ext cx="4620517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725" y="3233737"/>
            <a:ext cx="2772221" cy="1143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7725" y="3757612"/>
            <a:ext cx="1386036" cy="1143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725" y="4281487"/>
            <a:ext cx="461962" cy="1143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82200" y="647700"/>
            <a:ext cx="1543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1M+ Play Store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293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Meesho Business Strategy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975" y="6229350"/>
            <a:ext cx="1019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6 of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7298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1B60"/>
                </a:solidFill>
                <a:latin typeface="Plus Jakarta Sans"/>
              </a:rPr>
              <a:t>TASK 6: VOICE OF 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28650"/>
            <a:ext cx="766345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Customer Review &amp; Sentiment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605087"/>
            <a:ext cx="606442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Sentiment Breakdown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892" y="2047875"/>
            <a:ext cx="609510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Top Positive Drivers (60%)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892" y="2286000"/>
            <a:ext cx="541883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4532D"/>
                </a:solidFill>
                <a:latin typeface="Plus Jakarta Sans"/>
              </a:rPr>
              <a:t>Unbeatable low pricing, vast catalog selection, simple cash-on-delivery (COD), and reseller income.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892" y="3162300"/>
            <a:ext cx="609510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Top Negative Drivers (30%)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892" y="3400425"/>
            <a:ext cx="541883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F1D1D"/>
                </a:solidFill>
                <a:latin typeface="Plus Jakarta Sans"/>
              </a:rPr>
              <a:t>Product size/color mismatches, delayed deliveries, and bot-heavy customer support responses.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892" y="4276725"/>
            <a:ext cx="609510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Neutral Feedback (10%)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892" y="4514850"/>
            <a:ext cx="541883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Standard queries regarding refund processing timelines and localized app language updates.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2976562"/>
            <a:ext cx="876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Positive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6292" y="2976562"/>
            <a:ext cx="647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500437"/>
            <a:ext cx="9620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C2626"/>
                </a:solidFill>
                <a:latin typeface="Plus Jakarta Sans"/>
              </a:rPr>
              <a:t>Negative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6292" y="3500437"/>
            <a:ext cx="647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4024312"/>
            <a:ext cx="828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Plus Jakarta Sans"/>
              </a:rPr>
              <a:t>Neutral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4392" y="4024312"/>
            <a:ext cx="609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10%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20300" y="571500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062162"/>
          <a:ext cx="10972798" cy="29908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72519"/>
                <a:gridCol w="2836812"/>
                <a:gridCol w="2622649"/>
                <a:gridCol w="2740818"/>
              </a:tblGrid>
              <a:tr h="4984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Meesho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1B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Flipkart Shopsy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Amazon Bazaar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B4B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Core 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D174D"/>
                          </a:solidFill>
                          <a:latin typeface="Plus Jakarta Sans"/>
                        </a:rPr>
                        <a:t>Zero-Commission Social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Hyper-Value Reselling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Low-Cost Storefront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Seller Fee Structure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0% Commission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0% on select items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Reduced referral fees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Target Demographic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Tier 2/3/4 Non-Metro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Tier 2/3 Budget Shoppers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Urban / Semi-Urban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Logistics Operations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3PL Valmo Aggregator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In-house eKart Network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In-house Amazon Logistics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Primary Competitive Moat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81B60"/>
                          </a:solidFill>
                          <a:latin typeface="Plus Jakarta Sans"/>
                        </a:rPr>
                        <a:t>First-Mover Scale in Bharat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Flipkart Supply Chain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Capital Backing &amp; Trust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172700" y="647700"/>
            <a:ext cx="1352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Market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2293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Meesho Business Strategy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8975" y="6229350"/>
            <a:ext cx="1019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7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6250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1B60"/>
                </a:solidFill>
                <a:latin typeface="Plus Jakarta Sans"/>
              </a:rPr>
              <a:t>TASK 7: INDUSTRY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8650"/>
            <a:ext cx="656332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Competitor Benchmarking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6500" y="57150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157412"/>
            <a:ext cx="5410200" cy="1266825"/>
          </a:xfrm>
          <a:prstGeom prst="roundRect">
            <a:avLst>
              <a:gd name="adj" fmla="val 90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2157412"/>
            <a:ext cx="5410200" cy="1266825"/>
          </a:xfrm>
          <a:prstGeom prst="roundRect">
            <a:avLst>
              <a:gd name="adj" fmla="val 902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576637"/>
            <a:ext cx="5410200" cy="1266825"/>
          </a:xfrm>
          <a:prstGeom prst="roundRect">
            <a:avLst>
              <a:gd name="adj" fmla="val 902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3576637"/>
            <a:ext cx="5410200" cy="1266825"/>
          </a:xfrm>
          <a:prstGeom prst="roundRect">
            <a:avLst>
              <a:gd name="adj" fmla="val 9022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395537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395537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814762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3814762"/>
            <a:ext cx="1524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48900" y="647700"/>
            <a:ext cx="1276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1B60"/>
                </a:solidFill>
                <a:latin typeface="Plus Jakarta Sans"/>
              </a:rPr>
              <a:t>Internal vs External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293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Meesho Business Strategy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9450" y="6229350"/>
            <a:ext cx="1028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8 of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4024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1B60"/>
                </a:solidFill>
                <a:latin typeface="Plus Jakarta Sans"/>
              </a:rPr>
              <a:t>TASK 8: STRATEGIC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28650"/>
            <a:ext cx="422552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SWOT Analysis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2357437"/>
            <a:ext cx="6575821" cy="2190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Strengths (Internal)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2357437"/>
            <a:ext cx="5819775" cy="2190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Weaknesses (Internal)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776662"/>
            <a:ext cx="6575821" cy="2190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75985"/>
                </a:solidFill>
                <a:latin typeface="Plus Jakarta Sans"/>
              </a:rPr>
              <a:t>Opportunities (External)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225" y="3776662"/>
            <a:ext cx="5819775" cy="21907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3412"/>
                </a:solidFill>
                <a:latin typeface="Plus Jakarta Sans"/>
              </a:rPr>
              <a:t>Threats (External)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2652712"/>
            <a:ext cx="62626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4532D"/>
                </a:solidFill>
                <a:latin typeface="Plus Jakarta Sans"/>
              </a:rPr>
              <a:t>• Dominant Tier 2/3 market share and organic social reach.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2967037"/>
            <a:ext cx="62626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4532D"/>
                </a:solidFill>
                <a:latin typeface="Plus Jakarta Sans"/>
              </a:rPr>
              <a:t>• 0% commission model driving massive seller retention.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2652712"/>
            <a:ext cx="58197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7F1D1D"/>
                </a:solidFill>
                <a:latin typeface="Plus Jakarta Sans"/>
              </a:rPr>
              <a:t>• High Return-to-Origin (RTO) rates on COD orders.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2967037"/>
            <a:ext cx="58197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7F1D1D"/>
                </a:solidFill>
                <a:latin typeface="Plus Jakarta Sans"/>
              </a:rPr>
              <a:t>• Inconsistent unbranded product quality control.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4071937"/>
            <a:ext cx="62626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0C4A6E"/>
                </a:solidFill>
                <a:latin typeface="Plus Jakarta Sans"/>
              </a:rPr>
              <a:t>• Monetization via vendor loans and sponsored ad products.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4386262"/>
            <a:ext cx="62626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0C4A6E"/>
                </a:solidFill>
                <a:latin typeface="Plus Jakarta Sans"/>
              </a:rPr>
              <a:t>• Hyper-rural Indian e-commerce expansion.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071937"/>
            <a:ext cx="58197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7C2D12"/>
                </a:solidFill>
                <a:latin typeface="Plus Jakarta Sans"/>
              </a:rPr>
              <a:t>• Aggressive budget pushes by Flipkart Shopsy &amp; Amazon.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2225" y="4386262"/>
            <a:ext cx="58197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7C2D12"/>
                </a:solidFill>
                <a:latin typeface="Plus Jakarta Sans"/>
              </a:rPr>
              <a:t>• Fuel surcharge &amp; last-mile shipping price inflation.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429250"/>
            <a:ext cx="10972800" cy="523875"/>
          </a:xfrm>
          <a:prstGeom prst="roundRect">
            <a:avLst>
              <a:gd name="adj" fmla="val 21818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77400" y="571500"/>
            <a:ext cx="1905000" cy="323850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896516"/>
            <a:ext cx="5372100" cy="2645866"/>
          </a:xfrm>
          <a:prstGeom prst="roundRect">
            <a:avLst>
              <a:gd name="adj" fmla="val 43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1896516"/>
            <a:ext cx="5372100" cy="2645866"/>
          </a:xfrm>
          <a:prstGeom prst="roundRect">
            <a:avLst>
              <a:gd name="adj" fmla="val 43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896516"/>
            <a:ext cx="57150" cy="264586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0300" y="1896516"/>
            <a:ext cx="57150" cy="264586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29800" y="647700"/>
            <a:ext cx="1695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Data-Backed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5581650"/>
            <a:ext cx="2547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472B6"/>
                </a:solidFill>
                <a:latin typeface="Plus Jakarta Sans"/>
              </a:rPr>
              <a:t>Data Correlation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9050" y="5581650"/>
            <a:ext cx="83629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Negative customer ratings stem from seller product mismatches, not platform software errors.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293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Meesho Business Strategy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48975" y="6229350"/>
            <a:ext cx="1019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Slide 9 of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6179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81B60"/>
                </a:solidFill>
                <a:latin typeface="Plus Jakarta Sans"/>
              </a:rPr>
              <a:t>TASK 9: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8650"/>
            <a:ext cx="648831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Key Analytical Insights &amp;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2125116"/>
            <a:ext cx="63757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What Is Working Well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6050" y="2125116"/>
            <a:ext cx="56959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Problem Areas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2477541"/>
            <a:ext cx="4953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Viral Social Loops: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WhatsApp/Instagram sharing drives organic user acquisition at minimal CAC.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3121372"/>
            <a:ext cx="4953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Unmatched Scale in Bharat: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150M+ transacting users with 50% first-time e-commerce shoppers.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3765202"/>
            <a:ext cx="4953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Lean Capital Structure: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Valmo asset-light logistics model preserves operational cash 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050" y="2477541"/>
            <a:ext cx="4953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COD Order Rejections: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High Return-to-Origin (RTO) erodes profit margins on low-ticket items.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3121372"/>
            <a:ext cx="4953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Unvetted Vendor Quality: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Quality variance triggers negative customer reviews and churn.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6050" y="3765202"/>
            <a:ext cx="4953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Automated Support Bottlenecks: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Bot-only resolution fails during complex return disputes.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96475" y="647700"/>
            <a:ext cx="1685925" cy="323850"/>
          </a:xfrm>
          <a:prstGeom prst="roundRect">
            <a:avLst>
              <a:gd name="adj" fmla="val 50000"/>
            </a:avLst>
          </a:prstGeom>
          <a:solidFill>
            <a:srgbClr val="2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177504"/>
            <a:ext cx="5334000" cy="2922091"/>
          </a:xfrm>
          <a:prstGeom prst="roundRect">
            <a:avLst>
              <a:gd name="adj" fmla="val 5215"/>
            </a:avLst>
          </a:prstGeom>
          <a:solidFill>
            <a:srgbClr val="261431"/>
          </a:solidFill>
          <a:ln w="9525">
            <a:solidFill>
              <a:srgbClr val="342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2040284"/>
            <a:ext cx="5334000" cy="3196381"/>
          </a:xfrm>
          <a:prstGeom prst="roundRect">
            <a:avLst>
              <a:gd name="adj" fmla="val 4767"/>
            </a:avLst>
          </a:prstGeom>
          <a:solidFill>
            <a:srgbClr val="261431"/>
          </a:solidFill>
          <a:ln w="9525">
            <a:solidFill>
              <a:srgbClr val="342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2453729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91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24625" y="2316509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8875" y="723900"/>
            <a:ext cx="14763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Growth &amp; Margin 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53150"/>
            <a:ext cx="2928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Strategic Business Report Concluded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2300" y="6153150"/>
            <a:ext cx="1085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Slide 10 of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33400"/>
            <a:ext cx="7060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72B6"/>
                </a:solidFill>
                <a:latin typeface="Plus Jakarta Sans"/>
              </a:rPr>
              <a:t>TASK 10: ACTION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7413426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Strategic Business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453729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3025" y="2506116"/>
            <a:ext cx="40130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472B6"/>
                </a:solidFill>
                <a:latin typeface="Plus Jakarta Sans"/>
              </a:rPr>
              <a:t>Short-Term Horizon (1–6 Months)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949029"/>
            <a:ext cx="4876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AI Vendor Quality Checks: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Implement visual packaging scanning at seller dispatch centers to catch defects.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611909"/>
            <a:ext cx="4876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Pre-Pay UPI Incentives: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Offer micro-discounts on digital payments to reduce high cash-on-delivery RTO rates.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274790"/>
            <a:ext cx="4876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Human Support Escalation: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Upgrade high-value dispute tickets to human reps within 10 minutes.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0" y="2316509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1825" y="2368897"/>
            <a:ext cx="412551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Long-Term Horizon (6–18 Months)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2811809"/>
            <a:ext cx="48768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Meesho Trust Verification: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Introduce "Verified Seller" badges to foster shopper confidence and boost conversion.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3748980"/>
            <a:ext cx="4876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Expanded Financial Services: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Scale working capital lending and ad analytics tools for high-volume vendors.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4411860"/>
            <a:ext cx="4876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Hyper-Rural Hub Expansion: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Establish local fulfillment micro-hubs to lower last-mile delivery costs.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5441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https://dutchuncles.in/wp-content/uploads/2021/05/meesho-copy.jpg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083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dutchuncles.in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5226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https://www.globalindiaexpress.com/img/parcel-delivery-service.jpg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3464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www.globalindiaexpress.com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